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8" r:id="rId3"/>
    <p:sldId id="260" r:id="rId4"/>
    <p:sldId id="261" r:id="rId5"/>
    <p:sldId id="262" r:id="rId6"/>
    <p:sldId id="264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1173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RoRS Funds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dirty="0"/>
              <a:t>To define our problem, we first need to understand what </a:t>
            </a:r>
            <a:r>
              <a:rPr lang="en-US" b="1" dirty="0"/>
              <a:t>NSF </a:t>
            </a:r>
            <a:r>
              <a:rPr lang="en-US" b="1" dirty="0" err="1"/>
              <a:t>RoRS</a:t>
            </a:r>
            <a:r>
              <a:rPr lang="en-US" dirty="0"/>
              <a:t> actually funds.</a:t>
            </a:r>
            <a:br>
              <a:rPr lang="en-US" dirty="0"/>
            </a:br>
            <a:r>
              <a:rPr lang="en-US" dirty="0" err="1"/>
              <a:t>RoRS</a:t>
            </a:r>
            <a:r>
              <a:rPr lang="en-US" dirty="0"/>
              <a:t> encourages projects that:</a:t>
            </a:r>
          </a:p>
          <a:p>
            <a:r>
              <a:rPr lang="en-US" dirty="0"/>
              <a:t>Study </a:t>
            </a:r>
            <a:r>
              <a:rPr lang="en-US" b="1" dirty="0"/>
              <a:t>the nature and pervasiveness</a:t>
            </a:r>
            <a:r>
              <a:rPr lang="en-US" dirty="0"/>
              <a:t> of research security threats</a:t>
            </a:r>
          </a:p>
          <a:p>
            <a:r>
              <a:rPr lang="en-US" dirty="0"/>
              <a:t>Develop </a:t>
            </a:r>
            <a:r>
              <a:rPr lang="en-US" b="1" dirty="0"/>
              <a:t>methods to identify risks</a:t>
            </a:r>
            <a:r>
              <a:rPr lang="en-US" dirty="0"/>
              <a:t> and </a:t>
            </a:r>
            <a:r>
              <a:rPr lang="en-US" b="1" dirty="0"/>
              <a:t>mitigation strategies</a:t>
            </a:r>
            <a:endParaRPr lang="en-US" dirty="0"/>
          </a:p>
          <a:p>
            <a:r>
              <a:rPr lang="en-US" dirty="0"/>
              <a:t>Create or strengthen </a:t>
            </a:r>
            <a:r>
              <a:rPr lang="en-US" b="1" dirty="0"/>
              <a:t>research security protocols</a:t>
            </a:r>
            <a:endParaRPr lang="en-US" dirty="0"/>
          </a:p>
          <a:p>
            <a:r>
              <a:rPr lang="en-US" dirty="0"/>
              <a:t>Examine </a:t>
            </a:r>
            <a:r>
              <a:rPr lang="en-US" b="1" dirty="0"/>
              <a:t>human behavior</a:t>
            </a:r>
            <a:r>
              <a:rPr lang="en-US" dirty="0"/>
              <a:t> around disclosure and compliance</a:t>
            </a:r>
          </a:p>
          <a:p>
            <a:r>
              <a:rPr lang="en-US" dirty="0"/>
              <a:t>Analyze </a:t>
            </a:r>
            <a:r>
              <a:rPr lang="en-US" b="1" dirty="0"/>
              <a:t>research security policies</a:t>
            </a:r>
            <a:r>
              <a:rPr lang="en-US" dirty="0"/>
              <a:t> and their implications</a:t>
            </a:r>
          </a:p>
          <a:p>
            <a:r>
              <a:rPr lang="en-US" dirty="0"/>
              <a:t>Study </a:t>
            </a:r>
            <a:r>
              <a:rPr lang="en-US" b="1" dirty="0"/>
              <a:t>organizational change</a:t>
            </a:r>
            <a:r>
              <a:rPr lang="en-US" dirty="0"/>
              <a:t> in research security</a:t>
            </a:r>
          </a:p>
          <a:p>
            <a:r>
              <a:rPr lang="en-US" dirty="0"/>
              <a:t>Explore </a:t>
            </a:r>
            <a:r>
              <a:rPr lang="en-US" b="1" dirty="0"/>
              <a:t>research security in specific high-risk disciplines</a:t>
            </a:r>
            <a:endParaRPr lang="en-US" dirty="0"/>
          </a:p>
          <a:p>
            <a:r>
              <a:rPr lang="en-US" dirty="0"/>
              <a:t>Investigate the </a:t>
            </a:r>
            <a:r>
              <a:rPr lang="en-US" b="1" dirty="0"/>
              <a:t>international dimensions</a:t>
            </a:r>
            <a:r>
              <a:rPr lang="en-US" dirty="0"/>
              <a:t> of research security</a:t>
            </a:r>
          </a:p>
          <a:p>
            <a:r>
              <a:rPr lang="en-US" dirty="0"/>
              <a:t>Produce </a:t>
            </a:r>
            <a:r>
              <a:rPr lang="en-US" b="1" dirty="0"/>
              <a:t>data, analysis, theory, and tools</a:t>
            </a:r>
            <a:r>
              <a:rPr lang="en-US" dirty="0"/>
              <a:t> that inform decision-making</a:t>
            </a:r>
          </a:p>
          <a:p>
            <a:r>
              <a:rPr lang="en-US" dirty="0"/>
              <a:t>Leverage </a:t>
            </a:r>
            <a:r>
              <a:rPr lang="en-US" b="1" dirty="0"/>
              <a:t>new or previously inaccessible data sources</a:t>
            </a:r>
            <a:endParaRPr lang="en-US" dirty="0"/>
          </a:p>
          <a:p>
            <a:r>
              <a:rPr lang="en-US" dirty="0"/>
              <a:t>Build </a:t>
            </a:r>
            <a:r>
              <a:rPr lang="en-US" b="1" dirty="0"/>
              <a:t>innovative empirical and methodological approaches</a:t>
            </a:r>
            <a:endParaRPr lang="en-US" dirty="0"/>
          </a:p>
          <a:p>
            <a:r>
              <a:rPr lang="en-US" dirty="0"/>
              <a:t>Mechanisms they support include:</a:t>
            </a:r>
            <a:br>
              <a:rPr lang="en-US" dirty="0"/>
            </a:br>
            <a:r>
              <a:rPr lang="en-US" b="1" dirty="0"/>
              <a:t>Conferences, Workshops, Planning Grants, and Early-Concept (EAGER) Grants.</a:t>
            </a:r>
            <a:endParaRPr lang="en-US" dirty="0"/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Problem framing: What r we trying to solve?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 err="1"/>
              <a:t>RoRS</a:t>
            </a:r>
            <a:r>
              <a:rPr lang="en-US" dirty="0"/>
              <a:t> is interested in big problems like:</a:t>
            </a:r>
          </a:p>
          <a:p>
            <a:r>
              <a:rPr lang="en-US" dirty="0"/>
              <a:t>Undisclosed </a:t>
            </a:r>
            <a:r>
              <a:rPr lang="en-US" b="1" dirty="0"/>
              <a:t>foreign funding</a:t>
            </a:r>
            <a:r>
              <a:rPr lang="en-US" dirty="0"/>
              <a:t> or </a:t>
            </a:r>
            <a:r>
              <a:rPr lang="en-US" b="1" dirty="0"/>
              <a:t>non-U.S. grants</a:t>
            </a:r>
            <a:endParaRPr lang="en-US" dirty="0"/>
          </a:p>
          <a:p>
            <a:r>
              <a:rPr lang="en-US" dirty="0"/>
              <a:t>Undisclosed or conflicted </a:t>
            </a:r>
            <a:r>
              <a:rPr lang="en-US" b="1" dirty="0"/>
              <a:t>foreign affiliations</a:t>
            </a:r>
            <a:endParaRPr lang="en-US" dirty="0"/>
          </a:p>
          <a:p>
            <a:r>
              <a:rPr lang="en-US" dirty="0"/>
              <a:t>Participation in </a:t>
            </a:r>
            <a:r>
              <a:rPr lang="en-US" b="1" dirty="0"/>
              <a:t>foreign talent plans</a:t>
            </a:r>
            <a:r>
              <a:rPr lang="en-US" dirty="0"/>
              <a:t> without disclosure</a:t>
            </a:r>
          </a:p>
          <a:p>
            <a:r>
              <a:rPr lang="en-US" dirty="0"/>
              <a:t>Research done abroad before U.S. funding (duplication risk)</a:t>
            </a:r>
          </a:p>
          <a:p>
            <a:r>
              <a:rPr lang="en-US" b="1" dirty="0"/>
              <a:t>Missing IRB</a:t>
            </a:r>
            <a:r>
              <a:rPr lang="en-US" dirty="0"/>
              <a:t> or ethics information</a:t>
            </a:r>
          </a:p>
          <a:p>
            <a:r>
              <a:rPr lang="en-US" b="1" dirty="0"/>
              <a:t>Conflict of interest</a:t>
            </a:r>
            <a:r>
              <a:rPr lang="en-US" dirty="0"/>
              <a:t> and conflict of commitment</a:t>
            </a:r>
          </a:p>
          <a:p>
            <a:r>
              <a:rPr lang="en-US" dirty="0"/>
              <a:t>Lack of clear </a:t>
            </a:r>
            <a:r>
              <a:rPr lang="en-US" b="1" dirty="0"/>
              <a:t>transparency</a:t>
            </a:r>
            <a:r>
              <a:rPr lang="en-US" dirty="0"/>
              <a:t> and </a:t>
            </a:r>
            <a:r>
              <a:rPr lang="en-US" b="1" dirty="0"/>
              <a:t>disclosure</a:t>
            </a:r>
            <a:endParaRPr lang="en-US" dirty="0"/>
          </a:p>
          <a:p>
            <a:r>
              <a:rPr lang="en-US" dirty="0"/>
              <a:t>Difficulty comparing </a:t>
            </a:r>
            <a:r>
              <a:rPr lang="en-US" b="1" dirty="0"/>
              <a:t>U.S. vs. non-U.S. research</a:t>
            </a:r>
            <a:r>
              <a:rPr lang="en-US" dirty="0"/>
              <a:t> trends</a:t>
            </a:r>
          </a:p>
          <a:p>
            <a:r>
              <a:rPr lang="en-US" dirty="0"/>
              <a:t>Policy confusion or misinterpretation by researchers</a:t>
            </a:r>
          </a:p>
          <a:p>
            <a:r>
              <a:rPr lang="en-US" dirty="0"/>
              <a:t>Universities struggling to detect risks early</a:t>
            </a:r>
          </a:p>
          <a:p>
            <a:r>
              <a:rPr lang="en-US" dirty="0"/>
              <a:t>This means the </a:t>
            </a:r>
            <a:r>
              <a:rPr lang="en-US" b="1" dirty="0"/>
              <a:t>big question</a:t>
            </a:r>
            <a:r>
              <a:rPr lang="en-US" dirty="0"/>
              <a:t> is:</a:t>
            </a:r>
            <a:br>
              <a:rPr lang="en-US" dirty="0"/>
            </a:br>
            <a:r>
              <a:rPr lang="en-US" b="1" dirty="0"/>
              <a:t>What specific research security + integrity problems can LLMs help detect or understand?</a:t>
            </a:r>
            <a:endParaRPr lang="en-US" dirty="0"/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Core Problem Areas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1. Research Security Risks &amp; Foreign Influence</a:t>
            </a:r>
          </a:p>
          <a:p>
            <a:r>
              <a:rPr dirty="0"/>
              <a:t>2. Research Integrity Gaps</a:t>
            </a:r>
          </a:p>
          <a:p>
            <a:r>
              <a:rPr dirty="0"/>
              <a:t>3. Conflicts of Interest &amp; Transparency Issues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Three Core Research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b="1" dirty="0"/>
              <a:t>RQ1: Research Security Detection</a:t>
            </a:r>
          </a:p>
          <a:p>
            <a:r>
              <a:rPr lang="en-US" dirty="0"/>
              <a:t>Can LLMs identify </a:t>
            </a:r>
            <a:r>
              <a:rPr lang="en-US" b="1" dirty="0"/>
              <a:t>undisclosed foreign funding, affiliations, talent programs</a:t>
            </a:r>
            <a:r>
              <a:rPr lang="en-US" dirty="0"/>
              <a:t>, or other </a:t>
            </a:r>
            <a:r>
              <a:rPr lang="en-US" i="1" dirty="0"/>
              <a:t>security-relevant discrepancies</a:t>
            </a:r>
            <a:r>
              <a:rPr lang="en-US" dirty="0"/>
              <a:t> by analyzing and comparing multiple research documents?</a:t>
            </a:r>
          </a:p>
          <a:p>
            <a:r>
              <a:rPr lang="en-US" b="1" dirty="0"/>
              <a:t>RQ2: Research Integrity Assessment</a:t>
            </a:r>
          </a:p>
          <a:p>
            <a:r>
              <a:rPr lang="en-US" dirty="0"/>
              <a:t>Can LLMs detect </a:t>
            </a:r>
            <a:r>
              <a:rPr lang="en-US" b="1" dirty="0"/>
              <a:t>missing IRB/ethics information, questionable authorship, or integrity gaps</a:t>
            </a:r>
            <a:r>
              <a:rPr lang="en-US" dirty="0"/>
              <a:t> within proposals, publications, or disclosures?</a:t>
            </a:r>
          </a:p>
          <a:p>
            <a:r>
              <a:rPr lang="en-US" b="1" dirty="0"/>
              <a:t>RQ3:  International Funding &amp; Activity Patterns</a:t>
            </a:r>
          </a:p>
          <a:p>
            <a:r>
              <a:rPr lang="en-US" dirty="0"/>
              <a:t>Can LLMs help distinguish </a:t>
            </a:r>
            <a:r>
              <a:rPr lang="en-US" b="1" dirty="0"/>
              <a:t>U.S. vs. non-U.S. funding</a:t>
            </a:r>
            <a:r>
              <a:rPr lang="en-US" dirty="0"/>
              <a:t>, global collaboration patterns, or competitiveness trends that relate to research security?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LLMs Fit This Space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LLMs could help because they can:</a:t>
            </a:r>
          </a:p>
          <a:p>
            <a:r>
              <a:rPr lang="en-US" dirty="0"/>
              <a:t>Extract structured information from </a:t>
            </a:r>
            <a:r>
              <a:rPr lang="en-US" b="1" dirty="0"/>
              <a:t>proposals, CVs, </a:t>
            </a:r>
            <a:r>
              <a:rPr lang="en-US" b="1" dirty="0" err="1"/>
              <a:t>biosketches</a:t>
            </a:r>
            <a:r>
              <a:rPr lang="en-US" b="1" dirty="0"/>
              <a:t>, disclosures, publications</a:t>
            </a:r>
            <a:endParaRPr lang="en-US" dirty="0"/>
          </a:p>
          <a:p>
            <a:r>
              <a:rPr lang="en-US" dirty="0"/>
              <a:t>Compare information </a:t>
            </a:r>
            <a:r>
              <a:rPr lang="en-US" b="1" dirty="0"/>
              <a:t>across documents</a:t>
            </a:r>
            <a:r>
              <a:rPr lang="en-US" dirty="0"/>
              <a:t> (proposal vs CV vs ORCID)</a:t>
            </a:r>
          </a:p>
          <a:p>
            <a:r>
              <a:rPr lang="en-US" dirty="0"/>
              <a:t>Identify </a:t>
            </a:r>
            <a:r>
              <a:rPr lang="en-US" b="1" dirty="0"/>
              <a:t>missing or inconsistent disclosures</a:t>
            </a:r>
            <a:endParaRPr lang="en-US" dirty="0"/>
          </a:p>
          <a:p>
            <a:r>
              <a:rPr lang="en-US" dirty="0"/>
              <a:t>Recognize IRB/ethics language patterns</a:t>
            </a:r>
          </a:p>
          <a:p>
            <a:r>
              <a:rPr lang="en-US" dirty="0"/>
              <a:t>Detect </a:t>
            </a:r>
            <a:r>
              <a:rPr lang="en-US" b="1" dirty="0"/>
              <a:t>foreign institutions, grants, or funding agencies</a:t>
            </a:r>
            <a:endParaRPr lang="en-US" dirty="0"/>
          </a:p>
          <a:p>
            <a:r>
              <a:rPr lang="en-US" dirty="0"/>
              <a:t>Use RAG to apply </a:t>
            </a:r>
            <a:r>
              <a:rPr lang="en-US" b="1" dirty="0"/>
              <a:t>NSF policies, IRB rules, COI policies</a:t>
            </a:r>
            <a:r>
              <a:rPr lang="en-US" dirty="0"/>
              <a:t> to documents</a:t>
            </a:r>
          </a:p>
          <a:p>
            <a:r>
              <a:rPr lang="en-US" dirty="0"/>
              <a:t>Map </a:t>
            </a:r>
            <a:r>
              <a:rPr lang="en-US" b="1" dirty="0"/>
              <a:t>international research activity</a:t>
            </a:r>
            <a:r>
              <a:rPr lang="en-US" dirty="0"/>
              <a:t> in high-risk disciplines (AI, quantum, biotech)</a:t>
            </a:r>
          </a:p>
          <a:p>
            <a:r>
              <a:rPr lang="en-US" dirty="0"/>
              <a:t>This directly aligns with the problems </a:t>
            </a:r>
            <a:r>
              <a:rPr lang="en-US" dirty="0" err="1"/>
              <a:t>RoRS</a:t>
            </a:r>
            <a:r>
              <a:rPr lang="en-US" dirty="0"/>
              <a:t> wants addressed.</a:t>
            </a:r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 to Ask from Abe: </a:t>
            </a:r>
            <a:endParaRPr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2D37ABD-1634-1E41-B619-E99CD16F3D0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Conflict of Interest Detection</a:t>
            </a: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– Should we detect COI/COC by </a:t>
            </a:r>
            <a:r>
              <a:rPr kumimoji="0" lang="en-US" altLang="en-US" sz="18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comparing documents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(CV, disclosure, publications)?</a:t>
            </a: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– Or should we also use </a:t>
            </a:r>
            <a:r>
              <a:rPr kumimoji="0" lang="en-US" altLang="en-US" sz="18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external data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(ORCID, public grants, foreign websites)?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Scope of the Toolkit</a:t>
            </a: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– Do they want only </a:t>
            </a:r>
            <a:r>
              <a:rPr kumimoji="0" lang="en-US" altLang="en-US" sz="18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risk detection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or also </a:t>
            </a:r>
            <a:r>
              <a:rPr kumimoji="0" lang="en-US" altLang="en-US" sz="18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recommendations/actions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?</a:t>
            </a: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– Should the tool focus on a few high-risk disciplines (AI, quantum, bio)?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International Funding Comparison</a:t>
            </a: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– How deeply should we analyze U.S. vs. non-U.S. funding ecosystems?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Priorities</a:t>
            </a: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– Which dataset should we start collecting first?</a:t>
            </a: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(NSF disclosures, publications, CVs, IRB samples, case studies, etc.)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Prototype Vision</a:t>
            </a: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– Is the goal a research paper, a prototype tool, or a product roadmap?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Future Dashboard</a:t>
            </a: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– Should we plan for a dashboard later, or keep it conceptual for now?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634</Words>
  <Application>Microsoft Office PowerPoint</Application>
  <PresentationFormat>On-screen Show (4:3)</PresentationFormat>
  <Paragraphs>55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What RoRS Funds</vt:lpstr>
      <vt:lpstr>Problem framing: What r we trying to solve?</vt:lpstr>
      <vt:lpstr>Core Problem Areas</vt:lpstr>
      <vt:lpstr>Three Core Research Questions</vt:lpstr>
      <vt:lpstr>Why LLMs Fit This Space</vt:lpstr>
      <vt:lpstr>Question to Ask from Abe: 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Roohana Karim</cp:lastModifiedBy>
  <cp:revision>9</cp:revision>
  <dcterms:created xsi:type="dcterms:W3CDTF">2013-01-27T09:14:16Z</dcterms:created>
  <dcterms:modified xsi:type="dcterms:W3CDTF">2025-12-03T13:43:19Z</dcterms:modified>
  <cp:category/>
</cp:coreProperties>
</file>